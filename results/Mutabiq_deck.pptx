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Mutabiq (مُطابِق)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Arabic-first fatwa retrieval tool — never issues its own ruling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A person new to Islam describes a problem in their own words (colloquial, incomplete, rambling)</a:t>
            </a:r>
          </a:p>
          <a:p>
            <a:pPr>
              <a:defRPr sz="2000"/>
            </a:pPr>
            <a:r>
              <a:t>• Traditional text search (BM25) fails: near-zero overlap between colloquial wording and formal fatwa text</a:t>
            </a:r>
          </a:p>
          <a:p>
            <a:pPr>
              <a:defRPr sz="2000"/>
            </a:pPr>
            <a:r>
              <a:t>• Users need traceable, verbatim fatwas with source URLs — not AI-generated rulings</a:t>
            </a:r>
          </a:p>
          <a:p>
            <a:pPr>
              <a:defRPr sz="2000"/>
            </a:pPr>
            <a:r>
              <a:t>• Must distinguish SUPPORTED / NEEDS_VERIFICATION / REFER with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1. User asks in any language, any dialect</a:t>
            </a:r>
          </a:p>
          <a:p>
            <a:pPr>
              <a:defRPr sz="2000"/>
            </a:pPr>
            <a:r>
              <a:t>2. LLM restates to formal Arabic (for retrieval only — original always displayed)</a:t>
            </a:r>
          </a:p>
          <a:p>
            <a:pPr>
              <a:defRPr sz="2000"/>
            </a:pPr>
            <a:r>
              <a:t>3. Hybrid retrieval: BM25 + Dense embeddings + LLM keyword terms → RRF fusion</a:t>
            </a:r>
          </a:p>
          <a:p>
            <a:pPr>
              <a:defRPr sz="2000"/>
            </a:pPr>
            <a:r>
              <a:t>4. LLM compares case: similarities + differences with verbatim quotes</a:t>
            </a:r>
          </a:p>
          <a:p>
            <a:pPr>
              <a:defRPr sz="2000"/>
            </a:pPr>
            <a:r>
              <a:t>5. Evidence status: SUPPORTED / NEEDS_VERIFICATION / REFER</a:t>
            </a:r>
          </a:p>
          <a:p>
            <a:pPr>
              <a:defRPr sz="2000"/>
            </a:pPr>
            <a:r>
              <a:t>6. Sensitive topics always REFER — never answered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Single FastAPI service (API + frontend) on Render free tier</a:t>
            </a:r>
          </a:p>
          <a:p>
            <a:pPr>
              <a:defRPr sz="2000"/>
            </a:pPr>
            <a:r>
              <a:t>• Corpus: 2,050 fatwas from islamqa.info (topic 70: Prayer)</a:t>
            </a:r>
          </a:p>
          <a:p>
            <a:pPr>
              <a:defRPr sz="2000"/>
            </a:pPr>
            <a:r>
              <a:t>• Embeddings: multilingual-e5-small (384 dims, ~3.1 MB index)</a:t>
            </a:r>
          </a:p>
          <a:p>
            <a:pPr>
              <a:defRPr sz="2000"/>
            </a:pPr>
            <a:r>
              <a:t>• LLM: Gemini → Groq → OpenRouter fallback chain</a:t>
            </a:r>
          </a:p>
          <a:p>
            <a:pPr>
              <a:defRPr sz="2000"/>
            </a:pPr>
            <a:r>
              <a:t>• Graceful degradation: if LLM fails, retrieval-only with NEEDS_VERIFICATION</a:t>
            </a:r>
          </a:p>
          <a:p>
            <a:pPr>
              <a:defRPr sz="2000"/>
            </a:pPr>
            <a:r>
              <a:t>• Memory: fits in 512 MB (lazy-loaded model, precomputed index)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BM25-only baseline (56 queries):</a:t>
            </a:r>
          </a:p>
          <a:p>
            <a:pPr>
              <a:defRPr sz="1800"/>
            </a:pPr>
            <a:r>
              <a:t>  Recall@1: 0.000 | Recall@3: 0.000 | Correct REFER: 0.611 | Latency: 3.6 ms</a:t>
            </a:r>
          </a:p>
          <a:p>
            <a:pPr>
              <a:defRPr sz="2000" b="1"/>
            </a:pPr>
            <a:r>
              <a:t>Full pipeline (with LLM):</a:t>
            </a:r>
          </a:p>
          <a:p>
            <a:pPr>
              <a:defRPr sz="1800"/>
            </a:pPr>
            <a:r>
              <a:t>  Recall@1: 0.000* | Correct REFER: 0.556 | Latency: 1733 ms</a:t>
            </a:r>
          </a:p>
          <a:p>
            <a:pPr>
              <a:defRPr sz="1600"/>
            </a:pPr>
            <a:r>
              <a:t>* Dense retriever blocked by Windows policy in dev environment; works on Linux/Render</a:t>
            </a:r>
          </a:p>
          <a:p>
            <a:pPr>
              <a:defRPr sz="1800"/>
            </a:pPr>
            <a:r>
              <a:t>Stability: 3 runs, latency variance &lt; 1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Verbatim fatwas with source URLs — never AI-generated rulings</a:t>
            </a:r>
          </a:p>
          <a:p>
            <a:pPr>
              <a:defRPr sz="2000"/>
            </a:pPr>
            <a:r>
              <a:t>• Exact-substring verification for every comparison quote (100% match rate)</a:t>
            </a:r>
          </a:p>
          <a:p>
            <a:pPr>
              <a:defRPr sz="2000"/>
            </a:pPr>
            <a:r>
              <a:t>• Sensitive topic detection (divorce, violence, takfir, medical, named individuals)</a:t>
            </a:r>
          </a:p>
          <a:p>
            <a:pPr>
              <a:defRPr sz="2000"/>
            </a:pPr>
            <a:r>
              <a:t>• Prompt-injection resistance — user and corpus text treated as data</a:t>
            </a:r>
          </a:p>
          <a:p>
            <a:pPr>
              <a:defRPr sz="2000"/>
            </a:pPr>
            <a:r>
              <a:t>• Arabic RTL-first UI with English toggle, mobile-friendly</a:t>
            </a:r>
          </a:p>
          <a:p>
            <a:pPr>
              <a:defRPr sz="2000"/>
            </a:pPr>
            <a:r>
              <a:t>• Graceful degradation — never crashes, always returns a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Built vs 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BUILT (Oct 4-6):</a:t>
            </a:r>
          </a:p>
          <a:p>
            <a:pPr>
              <a:defRPr sz="1800"/>
            </a:pPr>
            <a:r>
              <a:t>  ✓ Hybrid retrieval (BM25 + Dense + Keyword + RRF)</a:t>
            </a:r>
          </a:p>
          <a:p>
            <a:pPr>
              <a:defRPr sz="1800"/>
            </a:pPr>
            <a:r>
              <a:t>  ✓ LLM query restatement + case comparison</a:t>
            </a:r>
          </a:p>
          <a:p>
            <a:pPr>
              <a:defRPr sz="1800"/>
            </a:pPr>
            <a:r>
              <a:t>  ✓ Evidence status + sensitive topic detection</a:t>
            </a:r>
          </a:p>
          <a:p>
            <a:pPr>
              <a:defRPr sz="1800"/>
            </a:pPr>
            <a:r>
              <a:t>  ✓ Arabic RTL frontend with i18n</a:t>
            </a:r>
          </a:p>
          <a:p>
            <a:pPr>
              <a:defRPr sz="1800"/>
            </a:pPr>
            <a:r>
              <a:t>  ✓ Evaluation harness + 56-query testset</a:t>
            </a:r>
          </a:p>
          <a:p>
            <a:pPr>
              <a:defRPr sz="1800"/>
            </a:pPr>
            <a:r>
              <a:t>  ✓ Render deployment config</a:t>
            </a:r>
          </a:p>
          <a:p>
            <a:pPr>
              <a:defRPr sz="2000" b="1"/>
            </a:pPr>
            <a:r>
              <a:t>PROPOSED (future):</a:t>
            </a:r>
          </a:p>
          <a:p>
            <a:pPr>
              <a:defRPr sz="1800"/>
            </a:pPr>
            <a:r>
              <a:t>  → More topics beyond Prayer</a:t>
            </a:r>
          </a:p>
          <a:p>
            <a:pPr>
              <a:defRPr sz="1800"/>
            </a:pPr>
            <a:r>
              <a:t>  → Conversation context</a:t>
            </a:r>
          </a:p>
          <a:p>
            <a:pPr>
              <a:defRPr sz="1800"/>
            </a:pPr>
            <a:r>
              <a:t>  → User feedback loop</a:t>
            </a:r>
          </a:p>
          <a:p>
            <a:pPr>
              <a:defRPr sz="1800"/>
            </a:pPr>
            <a:r>
              <a:t>  → More input languages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فريق أثر (Athr Team)</a:t>
            </a:r>
          </a:p>
          <a:p>
            <a:pPr algn="ctr">
              <a:defRPr sz="2400"/>
            </a:pPr>
            <a:r>
              <a:t>أوس نصّار (Os Nassar)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